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exploratory look at IMDB data on movies released 2010 to 2019, built with SQL queries in the accompanying notebook. The short version: the genres that get produced the most are the ones least likely to find an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asking a business question I profiled the database. It covers 145,081 titles in the 2010 to 2019 window, but only about half have a rating, and most of those ratings rest on very few votes. That is why every rating figure in this deck only counts titles with at least 1,000 votes. Genres are stored as a comma-separated list, and runtime is missing for about a fifth of titles; those rows are excluded, never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bubble is a genre. Left to right is how often a rated title in that genre reaches at least 1,000 votes; bottom to top is its average rating. Documentary is the paradox: the most titles made and the best reviewed, but only 4.2 percent of rated documentaries find an audience. Action and Crime reach one 28.6 percent of the time. The full chart with every genre labeled is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for deeper analysis follows from that pattern. Which genre and runtime combinations give a new title the best chance of reaching a wide audience without sacrificing its rating, and where is production outrunning demand? Runtime points the same way: the most common length, 80 to 99 minutes, is also the lowest rated. Answering it properly needs budget and box-office data, because votes measure reach, not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cleaning tasks a deeper analysis would need, grouped by type. The two the brief emphasizes are normalization, mainly splitting the genres field into its own table, and null handling, where rows missing a value are excluded rather than filled in. Every number on this slide comes from a query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txBox="1"/>
          <p:nvPr/>
        </p:nvSpPr>
        <p:spPr>
          <a:xfrm>
            <a:off x="548640" y="1143000"/>
            <a:ext cx="5029200" cy="274320"/>
          </a:xfrm>
          <a:prstGeom prst="rect">
            <a:avLst/>
          </a:prstGeom>
          <a:noFill/>
          <a:ln/>
        </p:spPr>
        <p:txBody>
          <a:bodyPr wrap="square" lIns="0" tIns="0" rIns="0" bIns="0" rtlCol="0" anchor="t"/>
          <a:lstStyle/>
          <a:p>
            <a:pPr indent="0" marL="0">
              <a:buNone/>
            </a:pPr>
            <a:r>
              <a:rPr lang="en-US" sz="1050" b="1" spc="200" kern="0" dirty="0">
                <a:solidFill>
                  <a:srgbClr val="F0A35E"/>
                </a:solidFill>
                <a:latin typeface="Arial" pitchFamily="34" charset="0"/>
                <a:ea typeface="Arial" pitchFamily="34" charset="-122"/>
                <a:cs typeface="Arial" pitchFamily="34" charset="-120"/>
              </a:rPr>
              <a:t>IMDB MOVIE DATA  ·  2010–2019</a:t>
            </a:r>
            <a:endParaRPr lang="en-US" sz="1050" dirty="0"/>
          </a:p>
        </p:txBody>
      </p:sp>
      <p:sp>
        <p:nvSpPr>
          <p:cNvPr id="3" name="Text 1"/>
          <p:cNvSpPr txBox="1"/>
          <p:nvPr/>
        </p:nvSpPr>
        <p:spPr>
          <a:xfrm>
            <a:off x="548640" y="1463040"/>
            <a:ext cx="5120640" cy="1463040"/>
          </a:xfrm>
          <a:prstGeom prst="rect">
            <a:avLst/>
          </a:prstGeom>
          <a:noFill/>
          <a:ln/>
        </p:spPr>
        <p:txBody>
          <a:bodyPr wrap="square" lIns="0" tIns="0" rIns="0" bIns="0" rtlCol="0" anchor="t"/>
          <a:lstStyle/>
          <a:p>
            <a:pPr indent="0" marL="0">
              <a:lnSpc>
                <a:spcPct val="100000"/>
              </a:lnSpc>
              <a:buNone/>
            </a:pPr>
            <a:r>
              <a:rPr lang="en-US" sz="4400" b="1" dirty="0">
                <a:solidFill>
                  <a:srgbClr val="F4F1EA"/>
                </a:solidFill>
                <a:latin typeface="Oswald" pitchFamily="34" charset="0"/>
                <a:ea typeface="Oswald" pitchFamily="34" charset="-122"/>
                <a:cs typeface="Oswald" pitchFamily="34" charset="-120"/>
              </a:rPr>
              <a:t>What Gets Made</a:t>
            </a:r>
            <a:endParaRPr lang="en-US" sz="4400" dirty="0"/>
          </a:p>
          <a:p>
            <a:pPr indent="0" marL="0">
              <a:lnSpc>
                <a:spcPct val="100000"/>
              </a:lnSpc>
              <a:buNone/>
            </a:pPr>
            <a:r>
              <a:rPr lang="en-US" sz="4400" b="1" dirty="0">
                <a:solidFill>
                  <a:srgbClr val="F4F1EA"/>
                </a:solidFill>
                <a:latin typeface="Oswald" pitchFamily="34" charset="0"/>
                <a:ea typeface="Oswald" pitchFamily="34" charset="-122"/>
                <a:cs typeface="Oswald" pitchFamily="34" charset="-120"/>
              </a:rPr>
              <a:t>vs. What Gets Watched</a:t>
            </a:r>
            <a:endParaRPr lang="en-US" sz="4400" dirty="0"/>
          </a:p>
        </p:txBody>
      </p:sp>
      <p:sp>
        <p:nvSpPr>
          <p:cNvPr id="4" name="Text 2"/>
          <p:cNvSpPr txBox="1"/>
          <p:nvPr/>
        </p:nvSpPr>
        <p:spPr>
          <a:xfrm>
            <a:off x="548640" y="3063240"/>
            <a:ext cx="4846320" cy="640080"/>
          </a:xfrm>
          <a:prstGeom prst="rect">
            <a:avLst/>
          </a:prstGeom>
          <a:noFill/>
          <a:ln/>
        </p:spPr>
        <p:txBody>
          <a:bodyPr wrap="square" lIns="0" tIns="0" rIns="0" bIns="0" rtlCol="0" anchor="t"/>
          <a:lstStyle/>
          <a:p>
            <a:pPr indent="0" marL="0">
              <a:buNone/>
            </a:pPr>
            <a:r>
              <a:rPr lang="en-US" sz="1500" dirty="0">
                <a:solidFill>
                  <a:srgbClr val="C9D1DC"/>
                </a:solidFill>
                <a:latin typeface="Arial" pitchFamily="34" charset="0"/>
                <a:ea typeface="Arial" pitchFamily="34" charset="-122"/>
                <a:cs typeface="Arial" pitchFamily="34" charset="-120"/>
              </a:rPr>
              <a:t>Genre supply, audience reach, and the data cleaning a deeper analysis needs</a:t>
            </a:r>
            <a:endParaRPr lang="en-US" sz="1500" dirty="0"/>
          </a:p>
        </p:txBody>
      </p:sp>
      <p:sp>
        <p:nvSpPr>
          <p:cNvPr id="5" name="Text 3"/>
          <p:cNvSpPr txBox="1"/>
          <p:nvPr/>
        </p:nvSpPr>
        <p:spPr>
          <a:xfrm>
            <a:off x="548640" y="4069080"/>
            <a:ext cx="3657600" cy="274320"/>
          </a:xfrm>
          <a:prstGeom prst="rect">
            <a:avLst/>
          </a:prstGeom>
          <a:noFill/>
          <a:ln/>
        </p:spPr>
        <p:txBody>
          <a:bodyPr wrap="square" lIns="0" tIns="0" rIns="0" bIns="0" rtlCol="0" anchor="t"/>
          <a:lstStyle/>
          <a:p>
            <a:pPr indent="0" marL="0">
              <a:buNone/>
            </a:pPr>
            <a:r>
              <a:rPr lang="en-US" sz="1200" dirty="0">
                <a:solidFill>
                  <a:srgbClr val="8C97A8"/>
                </a:solidFill>
                <a:latin typeface="Arial" pitchFamily="34" charset="0"/>
                <a:ea typeface="Arial" pitchFamily="34" charset="-122"/>
                <a:cs typeface="Arial" pitchFamily="34" charset="-120"/>
              </a:rPr>
              <a:t>Jan Balangue</a:t>
            </a:r>
            <a:endParaRPr lang="en-US" sz="1200" dirty="0"/>
          </a:p>
        </p:txBody>
      </p:sp>
      <p:sp>
        <p:nvSpPr>
          <p:cNvPr id="6" name="Shape 4"/>
          <p:cNvSpPr/>
          <p:nvPr/>
        </p:nvSpPr>
        <p:spPr>
          <a:xfrm>
            <a:off x="6126480" y="822960"/>
            <a:ext cx="1554480" cy="1554480"/>
          </a:xfrm>
          <a:prstGeom prst="ellipse">
            <a:avLst/>
          </a:prstGeom>
          <a:solidFill>
            <a:srgbClr val="C8641E"/>
          </a:solidFill>
          <a:ln/>
        </p:spPr>
      </p:sp>
      <p:sp>
        <p:nvSpPr>
          <p:cNvPr id="7" name="Shape 5"/>
          <p:cNvSpPr/>
          <p:nvPr/>
        </p:nvSpPr>
        <p:spPr>
          <a:xfrm>
            <a:off x="6629400" y="2651760"/>
            <a:ext cx="1143000" cy="1143000"/>
          </a:xfrm>
          <a:prstGeom prst="ellipse">
            <a:avLst/>
          </a:prstGeom>
          <a:solidFill>
            <a:srgbClr val="C8641E"/>
          </a:solidFill>
          <a:ln/>
        </p:spPr>
      </p:sp>
      <p:sp>
        <p:nvSpPr>
          <p:cNvPr id="8" name="Shape 6"/>
          <p:cNvSpPr/>
          <p:nvPr/>
        </p:nvSpPr>
        <p:spPr>
          <a:xfrm>
            <a:off x="7909560" y="2331720"/>
            <a:ext cx="685800" cy="685800"/>
          </a:xfrm>
          <a:prstGeom prst="ellipse">
            <a:avLst/>
          </a:prstGeom>
          <a:solidFill>
            <a:srgbClr val="2B6CB0"/>
          </a:solidFill>
          <a:ln/>
        </p:spPr>
      </p:sp>
      <p:sp>
        <p:nvSpPr>
          <p:cNvPr id="9" name="Shape 7"/>
          <p:cNvSpPr/>
          <p:nvPr/>
        </p:nvSpPr>
        <p:spPr>
          <a:xfrm>
            <a:off x="8001000" y="3246120"/>
            <a:ext cx="548640" cy="548640"/>
          </a:xfrm>
          <a:prstGeom prst="ellipse">
            <a:avLst/>
          </a:prstGeom>
          <a:solidFill>
            <a:srgbClr val="2B6CB0"/>
          </a:solidFill>
          <a:ln/>
        </p:spPr>
      </p:sp>
      <p:sp>
        <p:nvSpPr>
          <p:cNvPr id="10" name="Shape 8"/>
          <p:cNvSpPr/>
          <p:nvPr/>
        </p:nvSpPr>
        <p:spPr>
          <a:xfrm>
            <a:off x="7955280" y="1143000"/>
            <a:ext cx="411480" cy="411480"/>
          </a:xfrm>
          <a:prstGeom prst="ellipse">
            <a:avLst/>
          </a:prstGeom>
          <a:solidFill>
            <a:srgbClr val="C5CAD3"/>
          </a:solidFill>
          <a:ln/>
        </p:spPr>
      </p:sp>
      <p:sp>
        <p:nvSpPr>
          <p:cNvPr id="11" name="Shape 9"/>
          <p:cNvSpPr/>
          <p:nvPr/>
        </p:nvSpPr>
        <p:spPr>
          <a:xfrm>
            <a:off x="6172200" y="2834640"/>
            <a:ext cx="320040" cy="320040"/>
          </a:xfrm>
          <a:prstGeom prst="ellipse">
            <a:avLst/>
          </a:prstGeom>
          <a:solidFill>
            <a:srgbClr val="C5CAD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8229600" cy="256032"/>
          </a:xfrm>
          <a:prstGeom prst="rect">
            <a:avLst/>
          </a:prstGeom>
          <a:noFill/>
          <a:ln/>
        </p:spPr>
        <p:txBody>
          <a:bodyPr wrap="square" lIns="0" tIns="0" rIns="0" bIns="0" rtlCol="0" anchor="t"/>
          <a:lstStyle/>
          <a:p>
            <a:pPr indent="0" marL="0">
              <a:buNone/>
            </a:pPr>
            <a:r>
              <a:rPr lang="en-US" sz="1050" b="1" spc="200" kern="0" dirty="0">
                <a:solidFill>
                  <a:srgbClr val="A5501A"/>
                </a:solidFill>
                <a:latin typeface="Arial" pitchFamily="34" charset="0"/>
                <a:ea typeface="Arial" pitchFamily="34" charset="-122"/>
                <a:cs typeface="Arial" pitchFamily="34" charset="-120"/>
              </a:rPr>
              <a:t>01  ·  INITIAL EXPLORATION</a:t>
            </a:r>
            <a:endParaRPr lang="en-US" sz="1050" dirty="0"/>
          </a:p>
        </p:txBody>
      </p:sp>
      <p:sp>
        <p:nvSpPr>
          <p:cNvPr id="3" name="Text 1"/>
          <p:cNvSpPr txBox="1"/>
          <p:nvPr/>
        </p:nvSpPr>
        <p:spPr>
          <a:xfrm>
            <a:off x="457200" y="640080"/>
            <a:ext cx="8229600" cy="566928"/>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A large catalog with thin, uneven ratings</a:t>
            </a:r>
            <a:endParaRPr lang="en-US" sz="2800" dirty="0"/>
          </a:p>
        </p:txBody>
      </p:sp>
      <p:sp>
        <p:nvSpPr>
          <p:cNvPr id="4" name="Shape 2"/>
          <p:cNvSpPr/>
          <p:nvPr/>
        </p:nvSpPr>
        <p:spPr>
          <a:xfrm>
            <a:off x="457200" y="1417320"/>
            <a:ext cx="2560320" cy="1463040"/>
          </a:xfrm>
          <a:prstGeom prst="roundRect">
            <a:avLst>
              <a:gd name="adj" fmla="val 5000"/>
            </a:avLst>
          </a:prstGeom>
          <a:solidFill>
            <a:srgbClr val="F2F4F7"/>
          </a:solidFill>
          <a:ln/>
        </p:spPr>
      </p:sp>
      <p:sp>
        <p:nvSpPr>
          <p:cNvPr id="5" name="Text 3"/>
          <p:cNvSpPr txBox="1"/>
          <p:nvPr/>
        </p:nvSpPr>
        <p:spPr>
          <a:xfrm>
            <a:off x="685800" y="1600200"/>
            <a:ext cx="2103120" cy="502920"/>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145,081</a:t>
            </a:r>
            <a:endParaRPr lang="en-US" sz="2800" dirty="0"/>
          </a:p>
        </p:txBody>
      </p:sp>
      <p:sp>
        <p:nvSpPr>
          <p:cNvPr id="6" name="Text 4"/>
          <p:cNvSpPr txBox="1"/>
          <p:nvPr/>
        </p:nvSpPr>
        <p:spPr>
          <a:xfrm>
            <a:off x="685800" y="2148840"/>
            <a:ext cx="2103120" cy="594360"/>
          </a:xfrm>
          <a:prstGeom prst="rect">
            <a:avLst/>
          </a:prstGeom>
          <a:noFill/>
          <a:ln/>
        </p:spPr>
        <p:txBody>
          <a:bodyPr wrap="square" lIns="0" tIns="0" rIns="0" bIns="0" rtlCol="0" anchor="t"/>
          <a:lstStyle/>
          <a:p>
            <a:pPr indent="0" marL="0">
              <a:buNone/>
            </a:pPr>
            <a:r>
              <a:rPr lang="en-US" sz="1200" dirty="0">
                <a:solidFill>
                  <a:srgbClr val="4A5260"/>
                </a:solidFill>
                <a:latin typeface="Arial" pitchFamily="34" charset="0"/>
                <a:ea typeface="Arial" pitchFamily="34" charset="-122"/>
                <a:cs typeface="Arial" pitchFamily="34" charset="-120"/>
              </a:rPr>
              <a:t>titles released 2010–2019, out of 146,144 in the database</a:t>
            </a:r>
            <a:endParaRPr lang="en-US" sz="1200" dirty="0"/>
          </a:p>
        </p:txBody>
      </p:sp>
      <p:sp>
        <p:nvSpPr>
          <p:cNvPr id="7" name="Shape 5"/>
          <p:cNvSpPr/>
          <p:nvPr/>
        </p:nvSpPr>
        <p:spPr>
          <a:xfrm>
            <a:off x="3291840" y="1417320"/>
            <a:ext cx="2560320" cy="1463040"/>
          </a:xfrm>
          <a:prstGeom prst="roundRect">
            <a:avLst>
              <a:gd name="adj" fmla="val 5000"/>
            </a:avLst>
          </a:prstGeom>
          <a:solidFill>
            <a:srgbClr val="F2F4F7"/>
          </a:solidFill>
          <a:ln/>
        </p:spPr>
      </p:sp>
      <p:sp>
        <p:nvSpPr>
          <p:cNvPr id="8" name="Text 6"/>
          <p:cNvSpPr txBox="1"/>
          <p:nvPr/>
        </p:nvSpPr>
        <p:spPr>
          <a:xfrm>
            <a:off x="3520440" y="1600200"/>
            <a:ext cx="2103120" cy="502920"/>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50.9%</a:t>
            </a:r>
            <a:endParaRPr lang="en-US" sz="2800" dirty="0"/>
          </a:p>
        </p:txBody>
      </p:sp>
      <p:sp>
        <p:nvSpPr>
          <p:cNvPr id="9" name="Text 7"/>
          <p:cNvSpPr txBox="1"/>
          <p:nvPr/>
        </p:nvSpPr>
        <p:spPr>
          <a:xfrm>
            <a:off x="3520440" y="2148840"/>
            <a:ext cx="2103120" cy="594360"/>
          </a:xfrm>
          <a:prstGeom prst="rect">
            <a:avLst/>
          </a:prstGeom>
          <a:noFill/>
          <a:ln/>
        </p:spPr>
        <p:txBody>
          <a:bodyPr wrap="square" lIns="0" tIns="0" rIns="0" bIns="0" rtlCol="0" anchor="t"/>
          <a:lstStyle/>
          <a:p>
            <a:pPr indent="0" marL="0">
              <a:buNone/>
            </a:pPr>
            <a:r>
              <a:rPr lang="en-US" sz="1200" dirty="0">
                <a:solidFill>
                  <a:srgbClr val="4A5260"/>
                </a:solidFill>
                <a:latin typeface="Arial" pitchFamily="34" charset="0"/>
                <a:ea typeface="Arial" pitchFamily="34" charset="-122"/>
                <a:cs typeface="Arial" pitchFamily="34" charset="-120"/>
              </a:rPr>
              <a:t>of those titles have any rating; 71,225 have none</a:t>
            </a:r>
            <a:endParaRPr lang="en-US" sz="1200" dirty="0"/>
          </a:p>
        </p:txBody>
      </p:sp>
      <p:sp>
        <p:nvSpPr>
          <p:cNvPr id="10" name="Shape 8"/>
          <p:cNvSpPr/>
          <p:nvPr/>
        </p:nvSpPr>
        <p:spPr>
          <a:xfrm>
            <a:off x="6126480" y="1417320"/>
            <a:ext cx="2560320" cy="1463040"/>
          </a:xfrm>
          <a:prstGeom prst="roundRect">
            <a:avLst>
              <a:gd name="adj" fmla="val 5000"/>
            </a:avLst>
          </a:prstGeom>
          <a:solidFill>
            <a:srgbClr val="F2F4F7"/>
          </a:solidFill>
          <a:ln/>
        </p:spPr>
      </p:sp>
      <p:sp>
        <p:nvSpPr>
          <p:cNvPr id="11" name="Text 9"/>
          <p:cNvSpPr txBox="1"/>
          <p:nvPr/>
        </p:nvSpPr>
        <p:spPr>
          <a:xfrm>
            <a:off x="6355080" y="1600200"/>
            <a:ext cx="2103120" cy="502920"/>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12,146</a:t>
            </a:r>
            <a:endParaRPr lang="en-US" sz="2800" dirty="0"/>
          </a:p>
        </p:txBody>
      </p:sp>
      <p:sp>
        <p:nvSpPr>
          <p:cNvPr id="12" name="Text 10"/>
          <p:cNvSpPr txBox="1"/>
          <p:nvPr/>
        </p:nvSpPr>
        <p:spPr>
          <a:xfrm>
            <a:off x="6355080" y="2148840"/>
            <a:ext cx="2103120" cy="594360"/>
          </a:xfrm>
          <a:prstGeom prst="rect">
            <a:avLst/>
          </a:prstGeom>
          <a:noFill/>
          <a:ln/>
        </p:spPr>
        <p:txBody>
          <a:bodyPr wrap="square" lIns="0" tIns="0" rIns="0" bIns="0" rtlCol="0" anchor="t"/>
          <a:lstStyle/>
          <a:p>
            <a:pPr indent="0" marL="0">
              <a:buNone/>
            </a:pPr>
            <a:r>
              <a:rPr lang="en-US" sz="1200" dirty="0">
                <a:solidFill>
                  <a:srgbClr val="4A5260"/>
                </a:solidFill>
                <a:latin typeface="Arial" pitchFamily="34" charset="0"/>
                <a:ea typeface="Arial" pitchFamily="34" charset="-122"/>
                <a:cs typeface="Arial" pitchFamily="34" charset="-120"/>
              </a:rPr>
              <a:t>rated titles rest on fewer than 10 votes, so I use a 1,000-vote floor</a:t>
            </a:r>
            <a:endParaRPr lang="en-US" sz="1200" dirty="0"/>
          </a:p>
        </p:txBody>
      </p:sp>
      <p:sp>
        <p:nvSpPr>
          <p:cNvPr id="13" name="Shape 11"/>
          <p:cNvSpPr/>
          <p:nvPr/>
        </p:nvSpPr>
        <p:spPr>
          <a:xfrm>
            <a:off x="457200" y="3108960"/>
            <a:ext cx="2560320" cy="1463040"/>
          </a:xfrm>
          <a:prstGeom prst="roundRect">
            <a:avLst>
              <a:gd name="adj" fmla="val 5000"/>
            </a:avLst>
          </a:prstGeom>
          <a:solidFill>
            <a:srgbClr val="F2F4F7"/>
          </a:solidFill>
          <a:ln/>
        </p:spPr>
      </p:sp>
      <p:sp>
        <p:nvSpPr>
          <p:cNvPr id="14" name="Text 12"/>
          <p:cNvSpPr txBox="1"/>
          <p:nvPr/>
        </p:nvSpPr>
        <p:spPr>
          <a:xfrm>
            <a:off x="685800" y="3291840"/>
            <a:ext cx="2103120" cy="502920"/>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1,084</a:t>
            </a:r>
            <a:endParaRPr lang="en-US" sz="2800" dirty="0"/>
          </a:p>
        </p:txBody>
      </p:sp>
      <p:sp>
        <p:nvSpPr>
          <p:cNvPr id="15" name="Text 13"/>
          <p:cNvSpPr txBox="1"/>
          <p:nvPr/>
        </p:nvSpPr>
        <p:spPr>
          <a:xfrm>
            <a:off x="685800" y="3840480"/>
            <a:ext cx="2103120" cy="594360"/>
          </a:xfrm>
          <a:prstGeom prst="rect">
            <a:avLst/>
          </a:prstGeom>
          <a:noFill/>
          <a:ln/>
        </p:spPr>
        <p:txBody>
          <a:bodyPr wrap="square" lIns="0" tIns="0" rIns="0" bIns="0" rtlCol="0" anchor="t"/>
          <a:lstStyle/>
          <a:p>
            <a:pPr indent="0" marL="0">
              <a:buNone/>
            </a:pPr>
            <a:r>
              <a:rPr lang="en-US" sz="1200" dirty="0">
                <a:solidFill>
                  <a:srgbClr val="4A5260"/>
                </a:solidFill>
                <a:latin typeface="Arial" pitchFamily="34" charset="0"/>
                <a:ea typeface="Arial" pitchFamily="34" charset="-122"/>
                <a:cs typeface="Arial" pitchFamily="34" charset="-120"/>
              </a:rPr>
              <a:t>genre combinations, with up to 3 genres packed into one text field</a:t>
            </a:r>
            <a:endParaRPr lang="en-US" sz="1200" dirty="0"/>
          </a:p>
        </p:txBody>
      </p:sp>
      <p:sp>
        <p:nvSpPr>
          <p:cNvPr id="16" name="Shape 14"/>
          <p:cNvSpPr/>
          <p:nvPr/>
        </p:nvSpPr>
        <p:spPr>
          <a:xfrm>
            <a:off x="3291840" y="3108960"/>
            <a:ext cx="2560320" cy="1463040"/>
          </a:xfrm>
          <a:prstGeom prst="roundRect">
            <a:avLst>
              <a:gd name="adj" fmla="val 5000"/>
            </a:avLst>
          </a:prstGeom>
          <a:solidFill>
            <a:srgbClr val="F2F4F7"/>
          </a:solidFill>
          <a:ln/>
        </p:spPr>
      </p:sp>
      <p:sp>
        <p:nvSpPr>
          <p:cNvPr id="17" name="Text 15"/>
          <p:cNvSpPr txBox="1"/>
          <p:nvPr/>
        </p:nvSpPr>
        <p:spPr>
          <a:xfrm>
            <a:off x="3520440" y="3291840"/>
            <a:ext cx="2103120" cy="502920"/>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30,765</a:t>
            </a:r>
            <a:endParaRPr lang="en-US" sz="2800" dirty="0"/>
          </a:p>
        </p:txBody>
      </p:sp>
      <p:sp>
        <p:nvSpPr>
          <p:cNvPr id="18" name="Text 16"/>
          <p:cNvSpPr txBox="1"/>
          <p:nvPr/>
        </p:nvSpPr>
        <p:spPr>
          <a:xfrm>
            <a:off x="3520440" y="3840480"/>
            <a:ext cx="2103120" cy="594360"/>
          </a:xfrm>
          <a:prstGeom prst="rect">
            <a:avLst/>
          </a:prstGeom>
          <a:noFill/>
          <a:ln/>
        </p:spPr>
        <p:txBody>
          <a:bodyPr wrap="square" lIns="0" tIns="0" rIns="0" bIns="0" rtlCol="0" anchor="t"/>
          <a:lstStyle/>
          <a:p>
            <a:pPr indent="0" marL="0">
              <a:buNone/>
            </a:pPr>
            <a:r>
              <a:rPr lang="en-US" sz="1200" dirty="0">
                <a:solidFill>
                  <a:srgbClr val="4A5260"/>
                </a:solidFill>
                <a:latin typeface="Arial" pitchFamily="34" charset="0"/>
                <a:ea typeface="Arial" pitchFamily="34" charset="-122"/>
                <a:cs typeface="Arial" pitchFamily="34" charset="-120"/>
              </a:rPr>
              <a:t>titles missing runtime and 5,359 missing genre; excluded, never imputed</a:t>
            </a:r>
            <a:endParaRPr lang="en-US" sz="1200" dirty="0"/>
          </a:p>
        </p:txBody>
      </p:sp>
      <p:sp>
        <p:nvSpPr>
          <p:cNvPr id="19" name="Shape 17"/>
          <p:cNvSpPr/>
          <p:nvPr/>
        </p:nvSpPr>
        <p:spPr>
          <a:xfrm>
            <a:off x="6126480" y="3108960"/>
            <a:ext cx="2560320" cy="1463040"/>
          </a:xfrm>
          <a:prstGeom prst="roundRect">
            <a:avLst>
              <a:gd name="adj" fmla="val 5000"/>
            </a:avLst>
          </a:prstGeom>
          <a:solidFill>
            <a:srgbClr val="F2F4F7"/>
          </a:solidFill>
          <a:ln/>
        </p:spPr>
      </p:sp>
      <p:sp>
        <p:nvSpPr>
          <p:cNvPr id="20" name="Text 18"/>
          <p:cNvSpPr txBox="1"/>
          <p:nvPr/>
        </p:nvSpPr>
        <p:spPr>
          <a:xfrm>
            <a:off x="6355080" y="3291840"/>
            <a:ext cx="2103120" cy="502920"/>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2115</a:t>
            </a:r>
            <a:endParaRPr lang="en-US" sz="2800" dirty="0"/>
          </a:p>
        </p:txBody>
      </p:sp>
      <p:sp>
        <p:nvSpPr>
          <p:cNvPr id="21" name="Text 19"/>
          <p:cNvSpPr txBox="1"/>
          <p:nvPr/>
        </p:nvSpPr>
        <p:spPr>
          <a:xfrm>
            <a:off x="6355080" y="3840480"/>
            <a:ext cx="2103120" cy="594360"/>
          </a:xfrm>
          <a:prstGeom prst="rect">
            <a:avLst/>
          </a:prstGeom>
          <a:noFill/>
          <a:ln/>
        </p:spPr>
        <p:txBody>
          <a:bodyPr wrap="square" lIns="0" tIns="0" rIns="0" bIns="0" rtlCol="0" anchor="t"/>
          <a:lstStyle/>
          <a:p>
            <a:pPr indent="0" marL="0">
              <a:buNone/>
            </a:pPr>
            <a:r>
              <a:rPr lang="en-US" sz="1200" dirty="0">
                <a:solidFill>
                  <a:srgbClr val="4A5260"/>
                </a:solidFill>
                <a:latin typeface="Arial" pitchFamily="34" charset="0"/>
                <a:ea typeface="Arial" pitchFamily="34" charset="-122"/>
                <a:cs typeface="Arial" pitchFamily="34" charset="-120"/>
              </a:rPr>
              <a:t>the latest release year in the data; 1,063 titles are dated after 2019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8229600" cy="256032"/>
          </a:xfrm>
          <a:prstGeom prst="rect">
            <a:avLst/>
          </a:prstGeom>
          <a:noFill/>
          <a:ln/>
        </p:spPr>
        <p:txBody>
          <a:bodyPr wrap="square" lIns="0" tIns="0" rIns="0" bIns="0" rtlCol="0" anchor="t"/>
          <a:lstStyle/>
          <a:p>
            <a:pPr indent="0" marL="0">
              <a:buNone/>
            </a:pPr>
            <a:r>
              <a:rPr lang="en-US" sz="1050" b="1" spc="200" kern="0" dirty="0">
                <a:solidFill>
                  <a:srgbClr val="A5501A"/>
                </a:solidFill>
                <a:latin typeface="Arial" pitchFamily="34" charset="0"/>
                <a:ea typeface="Arial" pitchFamily="34" charset="-122"/>
                <a:cs typeface="Arial" pitchFamily="34" charset="-120"/>
              </a:rPr>
              <a:t>02  ·  THE PATTERN</a:t>
            </a:r>
            <a:endParaRPr lang="en-US" sz="1050" dirty="0"/>
          </a:p>
        </p:txBody>
      </p:sp>
      <p:sp>
        <p:nvSpPr>
          <p:cNvPr id="3" name="Text 1"/>
          <p:cNvSpPr txBox="1"/>
          <p:nvPr/>
        </p:nvSpPr>
        <p:spPr>
          <a:xfrm>
            <a:off x="457200" y="640080"/>
            <a:ext cx="8229600" cy="566928"/>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The most-produced genres reach the fewest viewers</a:t>
            </a:r>
            <a:endParaRPr lang="en-US" sz="2800" dirty="0"/>
          </a:p>
        </p:txBody>
      </p:sp>
      <p:pic>
        <p:nvPicPr>
          <p:cNvPr id="4" name="Image 0" descr="Bubble chart of 20 genres: share of rated titles reaching 1,000+ IMDB votes against average rating. Documentary and Drama are the largest bubbles but sit left of the median reach; Action and Crime are small bubbles with the highest reach, 28.6%.">    </p:cNvPr>
          <p:cNvPicPr>
            <a:picLocks noChangeAspect="1"/>
          </p:cNvPicPr>
          <p:nvPr/>
        </p:nvPicPr>
        <p:blipFill>
          <a:blip r:embed="rId1"/>
          <a:stretch>
            <a:fillRect/>
          </a:stretch>
        </p:blipFill>
        <p:spPr>
          <a:xfrm>
            <a:off x="457200" y="1234440"/>
            <a:ext cx="5440680" cy="3081528"/>
          </a:xfrm>
          <a:prstGeom prst="rect">
            <a:avLst/>
          </a:prstGeom>
        </p:spPr>
      </p:pic>
      <p:sp>
        <p:nvSpPr>
          <p:cNvPr id="5" name="Text 2"/>
          <p:cNvSpPr txBox="1"/>
          <p:nvPr/>
        </p:nvSpPr>
        <p:spPr>
          <a:xfrm>
            <a:off x="457200" y="4370832"/>
            <a:ext cx="5440680" cy="329184"/>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Bubble = genre, sized by titles produced. Reach = share of rated titles with 1,000+ IMDB votes. Dashed lines are medians; gray bubbles are the other 16 genres.</a:t>
            </a:r>
            <a:endParaRPr lang="en-US" sz="1000" dirty="0"/>
          </a:p>
        </p:txBody>
      </p:sp>
      <p:sp>
        <p:nvSpPr>
          <p:cNvPr id="6" name="Shape 3"/>
          <p:cNvSpPr/>
          <p:nvPr/>
        </p:nvSpPr>
        <p:spPr>
          <a:xfrm>
            <a:off x="6172200" y="1234440"/>
            <a:ext cx="2514600" cy="1051560"/>
          </a:xfrm>
          <a:prstGeom prst="roundRect">
            <a:avLst>
              <a:gd name="adj" fmla="val 6957"/>
            </a:avLst>
          </a:prstGeom>
          <a:solidFill>
            <a:srgbClr val="F2F4F7"/>
          </a:solidFill>
          <a:ln/>
        </p:spPr>
      </p:sp>
      <p:sp>
        <p:nvSpPr>
          <p:cNvPr id="7" name="Shape 4"/>
          <p:cNvSpPr/>
          <p:nvPr/>
        </p:nvSpPr>
        <p:spPr>
          <a:xfrm>
            <a:off x="6355080" y="1417320"/>
            <a:ext cx="155448" cy="155448"/>
          </a:xfrm>
          <a:prstGeom prst="ellipse">
            <a:avLst/>
          </a:prstGeom>
          <a:solidFill>
            <a:srgbClr val="C8641E"/>
          </a:solidFill>
          <a:ln/>
        </p:spPr>
      </p:sp>
      <p:sp>
        <p:nvSpPr>
          <p:cNvPr id="8" name="Text 5"/>
          <p:cNvSpPr txBox="1"/>
          <p:nvPr/>
        </p:nvSpPr>
        <p:spPr>
          <a:xfrm>
            <a:off x="6601968" y="1353312"/>
            <a:ext cx="1920240" cy="274320"/>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Documentary</a:t>
            </a:r>
            <a:endParaRPr lang="en-US" sz="1150" dirty="0"/>
          </a:p>
        </p:txBody>
      </p:sp>
      <p:sp>
        <p:nvSpPr>
          <p:cNvPr id="9" name="Text 6"/>
          <p:cNvSpPr txBox="1"/>
          <p:nvPr/>
        </p:nvSpPr>
        <p:spPr>
          <a:xfrm>
            <a:off x="6355080" y="1691640"/>
            <a:ext cx="868680" cy="457200"/>
          </a:xfrm>
          <a:prstGeom prst="rect">
            <a:avLst/>
          </a:prstGeom>
          <a:noFill/>
          <a:ln/>
        </p:spPr>
        <p:txBody>
          <a:bodyPr wrap="square" lIns="0" tIns="0" rIns="0" bIns="0" rtlCol="0" anchor="t"/>
          <a:lstStyle/>
          <a:p>
            <a:pPr indent="0" marL="0">
              <a:buNone/>
            </a:pPr>
            <a:r>
              <a:rPr lang="en-US" sz="2400" b="1" dirty="0">
                <a:solidFill>
                  <a:srgbClr val="A5501A"/>
                </a:solidFill>
                <a:latin typeface="Oswald" pitchFamily="34" charset="0"/>
                <a:ea typeface="Oswald" pitchFamily="34" charset="-122"/>
                <a:cs typeface="Oswald" pitchFamily="34" charset="-120"/>
              </a:rPr>
              <a:t>4.2%</a:t>
            </a:r>
            <a:endParaRPr lang="en-US" sz="2400" dirty="0"/>
          </a:p>
        </p:txBody>
      </p:sp>
      <p:sp>
        <p:nvSpPr>
          <p:cNvPr id="10" name="Text 7"/>
          <p:cNvSpPr txBox="1"/>
          <p:nvPr/>
        </p:nvSpPr>
        <p:spPr>
          <a:xfrm>
            <a:off x="7223760" y="1664208"/>
            <a:ext cx="1325880" cy="548640"/>
          </a:xfrm>
          <a:prstGeom prst="rect">
            <a:avLst/>
          </a:prstGeom>
          <a:noFill/>
          <a:ln/>
        </p:spPr>
        <p:txBody>
          <a:bodyPr wrap="square" lIns="0" tIns="0" rIns="0" bIns="0" rtlCol="0" anchor="t"/>
          <a:lstStyle/>
          <a:p>
            <a:pPr indent="0" marL="0">
              <a:buNone/>
            </a:pPr>
            <a:r>
              <a:rPr lang="en-US" sz="1000" dirty="0">
                <a:solidFill>
                  <a:srgbClr val="4A5260"/>
                </a:solidFill>
                <a:latin typeface="Arial" pitchFamily="34" charset="0"/>
                <a:ea typeface="Arial" pitchFamily="34" charset="-122"/>
                <a:cs typeface="Arial" pitchFamily="34" charset="-120"/>
              </a:rPr>
              <a:t>reach, yet the most titles (51,556) and top rating (7.27)</a:t>
            </a:r>
            <a:endParaRPr lang="en-US" sz="1000" dirty="0"/>
          </a:p>
        </p:txBody>
      </p:sp>
      <p:sp>
        <p:nvSpPr>
          <p:cNvPr id="11" name="Shape 8"/>
          <p:cNvSpPr/>
          <p:nvPr/>
        </p:nvSpPr>
        <p:spPr>
          <a:xfrm>
            <a:off x="6172200" y="2395728"/>
            <a:ext cx="2514600" cy="1051560"/>
          </a:xfrm>
          <a:prstGeom prst="roundRect">
            <a:avLst>
              <a:gd name="adj" fmla="val 6957"/>
            </a:avLst>
          </a:prstGeom>
          <a:solidFill>
            <a:srgbClr val="F2F4F7"/>
          </a:solidFill>
          <a:ln/>
        </p:spPr>
      </p:sp>
      <p:sp>
        <p:nvSpPr>
          <p:cNvPr id="12" name="Shape 9"/>
          <p:cNvSpPr/>
          <p:nvPr/>
        </p:nvSpPr>
        <p:spPr>
          <a:xfrm>
            <a:off x="6355080" y="2578608"/>
            <a:ext cx="155448" cy="155448"/>
          </a:xfrm>
          <a:prstGeom prst="ellipse">
            <a:avLst/>
          </a:prstGeom>
          <a:solidFill>
            <a:srgbClr val="C8641E"/>
          </a:solidFill>
          <a:ln/>
        </p:spPr>
      </p:sp>
      <p:sp>
        <p:nvSpPr>
          <p:cNvPr id="13" name="Text 10"/>
          <p:cNvSpPr txBox="1"/>
          <p:nvPr/>
        </p:nvSpPr>
        <p:spPr>
          <a:xfrm>
            <a:off x="6601968" y="2514600"/>
            <a:ext cx="1920240" cy="274320"/>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Drama</a:t>
            </a:r>
            <a:endParaRPr lang="en-US" sz="1150" dirty="0"/>
          </a:p>
        </p:txBody>
      </p:sp>
      <p:sp>
        <p:nvSpPr>
          <p:cNvPr id="14" name="Text 11"/>
          <p:cNvSpPr txBox="1"/>
          <p:nvPr/>
        </p:nvSpPr>
        <p:spPr>
          <a:xfrm>
            <a:off x="6355080" y="2852928"/>
            <a:ext cx="868680" cy="457200"/>
          </a:xfrm>
          <a:prstGeom prst="rect">
            <a:avLst/>
          </a:prstGeom>
          <a:noFill/>
          <a:ln/>
        </p:spPr>
        <p:txBody>
          <a:bodyPr wrap="square" lIns="0" tIns="0" rIns="0" bIns="0" rtlCol="0" anchor="t"/>
          <a:lstStyle/>
          <a:p>
            <a:pPr indent="0" marL="0">
              <a:buNone/>
            </a:pPr>
            <a:r>
              <a:rPr lang="en-US" sz="2400" b="1" dirty="0">
                <a:solidFill>
                  <a:srgbClr val="A5501A"/>
                </a:solidFill>
                <a:latin typeface="Oswald" pitchFamily="34" charset="0"/>
                <a:ea typeface="Oswald" pitchFamily="34" charset="-122"/>
                <a:cs typeface="Oswald" pitchFamily="34" charset="-120"/>
              </a:rPr>
              <a:t>16.4%</a:t>
            </a:r>
            <a:endParaRPr lang="en-US" sz="2400" dirty="0"/>
          </a:p>
        </p:txBody>
      </p:sp>
      <p:sp>
        <p:nvSpPr>
          <p:cNvPr id="15" name="Text 12"/>
          <p:cNvSpPr txBox="1"/>
          <p:nvPr/>
        </p:nvSpPr>
        <p:spPr>
          <a:xfrm>
            <a:off x="7223760" y="2825496"/>
            <a:ext cx="1325880" cy="548640"/>
          </a:xfrm>
          <a:prstGeom prst="rect">
            <a:avLst/>
          </a:prstGeom>
          <a:noFill/>
          <a:ln/>
        </p:spPr>
        <p:txBody>
          <a:bodyPr wrap="square" lIns="0" tIns="0" rIns="0" bIns="0" rtlCol="0" anchor="t"/>
          <a:lstStyle/>
          <a:p>
            <a:pPr indent="0" marL="0">
              <a:buNone/>
            </a:pPr>
            <a:r>
              <a:rPr lang="en-US" sz="1000" dirty="0">
                <a:solidFill>
                  <a:srgbClr val="4A5260"/>
                </a:solidFill>
                <a:latin typeface="Arial" pitchFamily="34" charset="0"/>
                <a:ea typeface="Arial" pitchFamily="34" charset="-122"/>
                <a:cs typeface="Arial" pitchFamily="34" charset="-120"/>
              </a:rPr>
              <a:t>reach across 49,545 titles, below the 18.75% median</a:t>
            </a:r>
            <a:endParaRPr lang="en-US" sz="1000" dirty="0"/>
          </a:p>
        </p:txBody>
      </p:sp>
      <p:sp>
        <p:nvSpPr>
          <p:cNvPr id="16" name="Shape 13"/>
          <p:cNvSpPr/>
          <p:nvPr/>
        </p:nvSpPr>
        <p:spPr>
          <a:xfrm>
            <a:off x="6172200" y="3557016"/>
            <a:ext cx="2514600" cy="1051560"/>
          </a:xfrm>
          <a:prstGeom prst="roundRect">
            <a:avLst>
              <a:gd name="adj" fmla="val 6957"/>
            </a:avLst>
          </a:prstGeom>
          <a:solidFill>
            <a:srgbClr val="F2F4F7"/>
          </a:solidFill>
          <a:ln/>
        </p:spPr>
      </p:sp>
      <p:sp>
        <p:nvSpPr>
          <p:cNvPr id="17" name="Shape 14"/>
          <p:cNvSpPr/>
          <p:nvPr/>
        </p:nvSpPr>
        <p:spPr>
          <a:xfrm>
            <a:off x="6355080" y="3739896"/>
            <a:ext cx="155448" cy="155448"/>
          </a:xfrm>
          <a:prstGeom prst="ellipse">
            <a:avLst/>
          </a:prstGeom>
          <a:solidFill>
            <a:srgbClr val="2B6CB0"/>
          </a:solidFill>
          <a:ln/>
        </p:spPr>
      </p:sp>
      <p:sp>
        <p:nvSpPr>
          <p:cNvPr id="18" name="Text 15"/>
          <p:cNvSpPr txBox="1"/>
          <p:nvPr/>
        </p:nvSpPr>
        <p:spPr>
          <a:xfrm>
            <a:off x="6601968" y="3675888"/>
            <a:ext cx="1920240" cy="274320"/>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Action &amp; Crime</a:t>
            </a:r>
            <a:endParaRPr lang="en-US" sz="1150" dirty="0"/>
          </a:p>
        </p:txBody>
      </p:sp>
      <p:sp>
        <p:nvSpPr>
          <p:cNvPr id="19" name="Text 16"/>
          <p:cNvSpPr txBox="1"/>
          <p:nvPr/>
        </p:nvSpPr>
        <p:spPr>
          <a:xfrm>
            <a:off x="6355080" y="4014216"/>
            <a:ext cx="868680" cy="457200"/>
          </a:xfrm>
          <a:prstGeom prst="rect">
            <a:avLst/>
          </a:prstGeom>
          <a:noFill/>
          <a:ln/>
        </p:spPr>
        <p:txBody>
          <a:bodyPr wrap="square" lIns="0" tIns="0" rIns="0" bIns="0" rtlCol="0" anchor="t"/>
          <a:lstStyle/>
          <a:p>
            <a:pPr indent="0" marL="0">
              <a:buNone/>
            </a:pPr>
            <a:r>
              <a:rPr lang="en-US" sz="2400" b="1" dirty="0">
                <a:solidFill>
                  <a:srgbClr val="245C96"/>
                </a:solidFill>
                <a:latin typeface="Oswald" pitchFamily="34" charset="0"/>
                <a:ea typeface="Oswald" pitchFamily="34" charset="-122"/>
                <a:cs typeface="Oswald" pitchFamily="34" charset="-120"/>
              </a:rPr>
              <a:t>28.6%</a:t>
            </a:r>
            <a:endParaRPr lang="en-US" sz="2400" dirty="0"/>
          </a:p>
        </p:txBody>
      </p:sp>
      <p:sp>
        <p:nvSpPr>
          <p:cNvPr id="20" name="Text 17"/>
          <p:cNvSpPr txBox="1"/>
          <p:nvPr/>
        </p:nvSpPr>
        <p:spPr>
          <a:xfrm>
            <a:off x="7223760" y="3986784"/>
            <a:ext cx="1325880" cy="548640"/>
          </a:xfrm>
          <a:prstGeom prst="rect">
            <a:avLst/>
          </a:prstGeom>
          <a:noFill/>
          <a:ln/>
        </p:spPr>
        <p:txBody>
          <a:bodyPr wrap="square" lIns="0" tIns="0" rIns="0" bIns="0" rtlCol="0" anchor="t"/>
          <a:lstStyle/>
          <a:p>
            <a:pPr indent="0" marL="0">
              <a:buNone/>
            </a:pPr>
            <a:r>
              <a:rPr lang="en-US" sz="1000" dirty="0">
                <a:solidFill>
                  <a:srgbClr val="4A5260"/>
                </a:solidFill>
                <a:latin typeface="Arial" pitchFamily="34" charset="0"/>
                <a:ea typeface="Arial" pitchFamily="34" charset="-122"/>
                <a:cs typeface="Arial" pitchFamily="34" charset="-120"/>
              </a:rPr>
              <a:t>reach, nearly 7× Documentary on a fraction of its volume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2E"/>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56032"/>
          </a:xfrm>
          <a:prstGeom prst="rect">
            <a:avLst/>
          </a:prstGeom>
          <a:noFill/>
          <a:ln/>
        </p:spPr>
        <p:txBody>
          <a:bodyPr wrap="square" lIns="0" tIns="0" rIns="0" bIns="0" rtlCol="0" anchor="t"/>
          <a:lstStyle/>
          <a:p>
            <a:pPr indent="0" marL="0">
              <a:buNone/>
            </a:pPr>
            <a:r>
              <a:rPr lang="en-US" sz="1050" b="1" spc="200" kern="0" dirty="0">
                <a:solidFill>
                  <a:srgbClr val="F0A35E"/>
                </a:solidFill>
                <a:latin typeface="Arial" pitchFamily="34" charset="0"/>
                <a:ea typeface="Arial" pitchFamily="34" charset="-122"/>
                <a:cs typeface="Arial" pitchFamily="34" charset="-120"/>
              </a:rPr>
              <a:t>03  ·  BUSINESS QUESTION</a:t>
            </a:r>
            <a:endParaRPr lang="en-US" sz="1050" dirty="0"/>
          </a:p>
        </p:txBody>
      </p:sp>
      <p:sp>
        <p:nvSpPr>
          <p:cNvPr id="3" name="Text 1"/>
          <p:cNvSpPr txBox="1"/>
          <p:nvPr/>
        </p:nvSpPr>
        <p:spPr>
          <a:xfrm>
            <a:off x="548640" y="777240"/>
            <a:ext cx="8046720" cy="320040"/>
          </a:xfrm>
          <a:prstGeom prst="rect">
            <a:avLst/>
          </a:prstGeom>
          <a:noFill/>
          <a:ln/>
        </p:spPr>
        <p:txBody>
          <a:bodyPr wrap="square" lIns="0" tIns="0" rIns="0" bIns="0" rtlCol="0" anchor="t"/>
          <a:lstStyle/>
          <a:p>
            <a:pPr indent="0" marL="0">
              <a:buNone/>
            </a:pPr>
            <a:r>
              <a:rPr lang="en-US" sz="1400" dirty="0">
                <a:solidFill>
                  <a:srgbClr val="C9D1DC"/>
                </a:solidFill>
                <a:latin typeface="Arial" pitchFamily="34" charset="0"/>
                <a:ea typeface="Arial" pitchFamily="34" charset="-122"/>
                <a:cs typeface="Arial" pitchFamily="34" charset="-120"/>
              </a:rPr>
              <a:t>The genres produced most are the least likely to find an audience.</a:t>
            </a:r>
            <a:endParaRPr lang="en-US" sz="1400" dirty="0"/>
          </a:p>
        </p:txBody>
      </p:sp>
      <p:sp>
        <p:nvSpPr>
          <p:cNvPr id="4" name="Text 2"/>
          <p:cNvSpPr txBox="1"/>
          <p:nvPr/>
        </p:nvSpPr>
        <p:spPr>
          <a:xfrm>
            <a:off x="548640" y="1188720"/>
            <a:ext cx="8046720" cy="1645920"/>
          </a:xfrm>
          <a:prstGeom prst="rect">
            <a:avLst/>
          </a:prstGeom>
          <a:noFill/>
          <a:ln/>
        </p:spPr>
        <p:txBody>
          <a:bodyPr wrap="square" lIns="0" tIns="0" rIns="0" bIns="0" rtlCol="0" anchor="t"/>
          <a:lstStyle/>
          <a:p>
            <a:pPr indent="0" marL="0">
              <a:buNone/>
            </a:pPr>
            <a:r>
              <a:rPr lang="en-US" sz="2800" b="1" dirty="0">
                <a:solidFill>
                  <a:srgbClr val="F4F1EA"/>
                </a:solidFill>
                <a:latin typeface="Oswald" pitchFamily="34" charset="0"/>
                <a:ea typeface="Oswald" pitchFamily="34" charset="-122"/>
                <a:cs typeface="Oswald" pitchFamily="34" charset="-120"/>
              </a:rPr>
              <a:t>Which genre and runtime combinations give a new title the best chance of reaching a wide audience without sacrificing its rating?</a:t>
            </a:r>
            <a:endParaRPr lang="en-US" sz="2800" dirty="0"/>
          </a:p>
        </p:txBody>
      </p:sp>
      <p:sp>
        <p:nvSpPr>
          <p:cNvPr id="5" name="Shape 3"/>
          <p:cNvSpPr/>
          <p:nvPr/>
        </p:nvSpPr>
        <p:spPr>
          <a:xfrm>
            <a:off x="548640" y="3108960"/>
            <a:ext cx="2530145" cy="1463040"/>
          </a:xfrm>
          <a:prstGeom prst="roundRect">
            <a:avLst>
              <a:gd name="adj" fmla="val 5000"/>
            </a:avLst>
          </a:prstGeom>
          <a:solidFill>
            <a:srgbClr val="233147"/>
          </a:solidFill>
          <a:ln/>
        </p:spPr>
      </p:sp>
      <p:sp>
        <p:nvSpPr>
          <p:cNvPr id="6" name="Shape 4"/>
          <p:cNvSpPr/>
          <p:nvPr/>
        </p:nvSpPr>
        <p:spPr>
          <a:xfrm>
            <a:off x="731520" y="3291840"/>
            <a:ext cx="329184" cy="329184"/>
          </a:xfrm>
          <a:prstGeom prst="ellipse">
            <a:avLst/>
          </a:prstGeom>
          <a:solidFill>
            <a:srgbClr val="F0A35E"/>
          </a:solidFill>
          <a:ln/>
        </p:spPr>
      </p:sp>
      <p:sp>
        <p:nvSpPr>
          <p:cNvPr id="7" name="Text 5"/>
          <p:cNvSpPr txBox="1"/>
          <p:nvPr/>
        </p:nvSpPr>
        <p:spPr>
          <a:xfrm>
            <a:off x="731520" y="3291840"/>
            <a:ext cx="329184" cy="329184"/>
          </a:xfrm>
          <a:prstGeom prst="rect">
            <a:avLst/>
          </a:prstGeom>
          <a:noFill/>
          <a:ln/>
        </p:spPr>
        <p:txBody>
          <a:bodyPr wrap="square" lIns="0" tIns="0" rIns="0" bIns="0" rtlCol="0" anchor="ctr"/>
          <a:lstStyle/>
          <a:p>
            <a:pPr algn="ctr" indent="0" marL="0">
              <a:buNone/>
            </a:pPr>
            <a:r>
              <a:rPr lang="en-US" sz="1200" b="1" dirty="0">
                <a:solidFill>
                  <a:srgbClr val="16202E"/>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188720" y="3264408"/>
            <a:ext cx="1737360" cy="411480"/>
          </a:xfrm>
          <a:prstGeom prst="rect">
            <a:avLst/>
          </a:prstGeom>
          <a:noFill/>
          <a:ln/>
        </p:spPr>
        <p:txBody>
          <a:bodyPr wrap="square" lIns="0" tIns="0" rIns="0" bIns="0" rtlCol="0" anchor="ctr"/>
          <a:lstStyle/>
          <a:p>
            <a:pPr indent="0" marL="0">
              <a:buNone/>
            </a:pPr>
            <a:r>
              <a:rPr lang="en-US" sz="1250" b="1" dirty="0">
                <a:solidFill>
                  <a:srgbClr val="F4F1EA"/>
                </a:solidFill>
                <a:latin typeface="Arial" pitchFamily="34" charset="0"/>
                <a:ea typeface="Arial" pitchFamily="34" charset="-122"/>
                <a:cs typeface="Arial" pitchFamily="34" charset="-120"/>
              </a:rPr>
              <a:t>Where production outruns demand</a:t>
            </a:r>
            <a:endParaRPr lang="en-US" sz="1250" dirty="0"/>
          </a:p>
        </p:txBody>
      </p:sp>
      <p:sp>
        <p:nvSpPr>
          <p:cNvPr id="9" name="Text 7"/>
          <p:cNvSpPr txBox="1"/>
          <p:nvPr/>
        </p:nvSpPr>
        <p:spPr>
          <a:xfrm>
            <a:off x="731520" y="3822192"/>
            <a:ext cx="2167128" cy="841248"/>
          </a:xfrm>
          <a:prstGeom prst="rect">
            <a:avLst/>
          </a:prstGeom>
          <a:noFill/>
          <a:ln/>
        </p:spPr>
        <p:txBody>
          <a:bodyPr wrap="square" lIns="0" tIns="0" rIns="0" bIns="0" rtlCol="0" anchor="t"/>
          <a:lstStyle/>
          <a:p>
            <a:pPr indent="0" marL="0">
              <a:buNone/>
            </a:pPr>
            <a:r>
              <a:rPr lang="en-US" sz="1050" dirty="0">
                <a:solidFill>
                  <a:srgbClr val="C9D1DC"/>
                </a:solidFill>
                <a:latin typeface="Arial" pitchFamily="34" charset="0"/>
                <a:ea typeface="Arial" pitchFamily="34" charset="-122"/>
                <a:cs typeface="Arial" pitchFamily="34" charset="-120"/>
              </a:rPr>
              <a:t>Documentary: 51,556 titles, 4.2% reach an audience. Drama: 49,545 titles, 16.4%. Action and Crime: 28.6%.</a:t>
            </a:r>
            <a:endParaRPr lang="en-US" sz="1050" dirty="0"/>
          </a:p>
        </p:txBody>
      </p:sp>
      <p:sp>
        <p:nvSpPr>
          <p:cNvPr id="10" name="Shape 8"/>
          <p:cNvSpPr/>
          <p:nvPr/>
        </p:nvSpPr>
        <p:spPr>
          <a:xfrm>
            <a:off x="3307385" y="3108960"/>
            <a:ext cx="2530145" cy="1463040"/>
          </a:xfrm>
          <a:prstGeom prst="roundRect">
            <a:avLst>
              <a:gd name="adj" fmla="val 5000"/>
            </a:avLst>
          </a:prstGeom>
          <a:solidFill>
            <a:srgbClr val="233147"/>
          </a:solidFill>
          <a:ln/>
        </p:spPr>
      </p:sp>
      <p:sp>
        <p:nvSpPr>
          <p:cNvPr id="11" name="Shape 9"/>
          <p:cNvSpPr/>
          <p:nvPr/>
        </p:nvSpPr>
        <p:spPr>
          <a:xfrm>
            <a:off x="3490265" y="3291840"/>
            <a:ext cx="329184" cy="329184"/>
          </a:xfrm>
          <a:prstGeom prst="ellipse">
            <a:avLst/>
          </a:prstGeom>
          <a:solidFill>
            <a:srgbClr val="F0A35E"/>
          </a:solidFill>
          <a:ln/>
        </p:spPr>
      </p:sp>
      <p:sp>
        <p:nvSpPr>
          <p:cNvPr id="12" name="Text 10"/>
          <p:cNvSpPr txBox="1"/>
          <p:nvPr/>
        </p:nvSpPr>
        <p:spPr>
          <a:xfrm>
            <a:off x="3490265" y="3291840"/>
            <a:ext cx="329184" cy="329184"/>
          </a:xfrm>
          <a:prstGeom prst="rect">
            <a:avLst/>
          </a:prstGeom>
          <a:noFill/>
          <a:ln/>
        </p:spPr>
        <p:txBody>
          <a:bodyPr wrap="square" lIns="0" tIns="0" rIns="0" bIns="0" rtlCol="0" anchor="ctr"/>
          <a:lstStyle/>
          <a:p>
            <a:pPr algn="ctr" indent="0" marL="0">
              <a:buNone/>
            </a:pPr>
            <a:r>
              <a:rPr lang="en-US" sz="1200" b="1" dirty="0">
                <a:solidFill>
                  <a:srgbClr val="16202E"/>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3947465" y="3264408"/>
            <a:ext cx="1737360" cy="411480"/>
          </a:xfrm>
          <a:prstGeom prst="rect">
            <a:avLst/>
          </a:prstGeom>
          <a:noFill/>
          <a:ln/>
        </p:spPr>
        <p:txBody>
          <a:bodyPr wrap="square" lIns="0" tIns="0" rIns="0" bIns="0" rtlCol="0" anchor="ctr"/>
          <a:lstStyle/>
          <a:p>
            <a:pPr indent="0" marL="0">
              <a:buNone/>
            </a:pPr>
            <a:r>
              <a:rPr lang="en-US" sz="1250" b="1" dirty="0">
                <a:solidFill>
                  <a:srgbClr val="F4F1EA"/>
                </a:solidFill>
                <a:latin typeface="Arial" pitchFamily="34" charset="0"/>
                <a:ea typeface="Arial" pitchFamily="34" charset="-122"/>
                <a:cs typeface="Arial" pitchFamily="34" charset="-120"/>
              </a:rPr>
              <a:t>Runtime adds a second signal</a:t>
            </a:r>
            <a:endParaRPr lang="en-US" sz="1250" dirty="0"/>
          </a:p>
        </p:txBody>
      </p:sp>
      <p:sp>
        <p:nvSpPr>
          <p:cNvPr id="14" name="Text 12"/>
          <p:cNvSpPr txBox="1"/>
          <p:nvPr/>
        </p:nvSpPr>
        <p:spPr>
          <a:xfrm>
            <a:off x="3490265" y="3822192"/>
            <a:ext cx="2167128" cy="841248"/>
          </a:xfrm>
          <a:prstGeom prst="rect">
            <a:avLst/>
          </a:prstGeom>
          <a:noFill/>
          <a:ln/>
        </p:spPr>
        <p:txBody>
          <a:bodyPr wrap="square" lIns="0" tIns="0" rIns="0" bIns="0" rtlCol="0" anchor="t"/>
          <a:lstStyle/>
          <a:p>
            <a:pPr indent="0" marL="0">
              <a:buNone/>
            </a:pPr>
            <a:r>
              <a:rPr lang="en-US" sz="1050" dirty="0">
                <a:solidFill>
                  <a:srgbClr val="C9D1DC"/>
                </a:solidFill>
                <a:latin typeface="Arial" pitchFamily="34" charset="0"/>
                <a:ea typeface="Arial" pitchFamily="34" charset="-122"/>
                <a:cs typeface="Arial" pitchFamily="34" charset="-120"/>
              </a:rPr>
              <a:t>80–99 min is the most common length (4,188 of 9,603 titles) and the lowest rated (5.85). Audience size peaks at 120–149 min.</a:t>
            </a:r>
            <a:endParaRPr lang="en-US" sz="1050" dirty="0"/>
          </a:p>
        </p:txBody>
      </p:sp>
      <p:sp>
        <p:nvSpPr>
          <p:cNvPr id="15" name="Shape 13"/>
          <p:cNvSpPr/>
          <p:nvPr/>
        </p:nvSpPr>
        <p:spPr>
          <a:xfrm>
            <a:off x="6066130" y="3108960"/>
            <a:ext cx="2530145" cy="1463040"/>
          </a:xfrm>
          <a:prstGeom prst="roundRect">
            <a:avLst>
              <a:gd name="adj" fmla="val 5000"/>
            </a:avLst>
          </a:prstGeom>
          <a:solidFill>
            <a:srgbClr val="233147"/>
          </a:solidFill>
          <a:ln/>
        </p:spPr>
      </p:sp>
      <p:sp>
        <p:nvSpPr>
          <p:cNvPr id="16" name="Shape 14"/>
          <p:cNvSpPr/>
          <p:nvPr/>
        </p:nvSpPr>
        <p:spPr>
          <a:xfrm>
            <a:off x="6249010" y="3291840"/>
            <a:ext cx="329184" cy="329184"/>
          </a:xfrm>
          <a:prstGeom prst="ellipse">
            <a:avLst/>
          </a:prstGeom>
          <a:solidFill>
            <a:srgbClr val="F0A35E"/>
          </a:solidFill>
          <a:ln/>
        </p:spPr>
      </p:sp>
      <p:sp>
        <p:nvSpPr>
          <p:cNvPr id="17" name="Text 15"/>
          <p:cNvSpPr txBox="1"/>
          <p:nvPr/>
        </p:nvSpPr>
        <p:spPr>
          <a:xfrm>
            <a:off x="6249010" y="3291840"/>
            <a:ext cx="329184" cy="329184"/>
          </a:xfrm>
          <a:prstGeom prst="rect">
            <a:avLst/>
          </a:prstGeom>
          <a:noFill/>
          <a:ln/>
        </p:spPr>
        <p:txBody>
          <a:bodyPr wrap="square" lIns="0" tIns="0" rIns="0" bIns="0" rtlCol="0" anchor="ctr"/>
          <a:lstStyle/>
          <a:p>
            <a:pPr algn="ctr" indent="0" marL="0">
              <a:buNone/>
            </a:pPr>
            <a:r>
              <a:rPr lang="en-US" sz="1200" b="1" dirty="0">
                <a:solidFill>
                  <a:srgbClr val="16202E"/>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6706210" y="3264408"/>
            <a:ext cx="1737360" cy="411480"/>
          </a:xfrm>
          <a:prstGeom prst="rect">
            <a:avLst/>
          </a:prstGeom>
          <a:noFill/>
          <a:ln/>
        </p:spPr>
        <p:txBody>
          <a:bodyPr wrap="square" lIns="0" tIns="0" rIns="0" bIns="0" rtlCol="0" anchor="ctr"/>
          <a:lstStyle/>
          <a:p>
            <a:pPr indent="0" marL="0">
              <a:buNone/>
            </a:pPr>
            <a:r>
              <a:rPr lang="en-US" sz="1250" b="1" dirty="0">
                <a:solidFill>
                  <a:srgbClr val="F4F1EA"/>
                </a:solidFill>
                <a:latin typeface="Arial" pitchFamily="34" charset="0"/>
                <a:ea typeface="Arial" pitchFamily="34" charset="-122"/>
                <a:cs typeface="Arial" pitchFamily="34" charset="-120"/>
              </a:rPr>
              <a:t>What answering it would take</a:t>
            </a:r>
            <a:endParaRPr lang="en-US" sz="1250" dirty="0"/>
          </a:p>
        </p:txBody>
      </p:sp>
      <p:sp>
        <p:nvSpPr>
          <p:cNvPr id="19" name="Text 17"/>
          <p:cNvSpPr txBox="1"/>
          <p:nvPr/>
        </p:nvSpPr>
        <p:spPr>
          <a:xfrm>
            <a:off x="6249010" y="3822192"/>
            <a:ext cx="2167128" cy="841248"/>
          </a:xfrm>
          <a:prstGeom prst="rect">
            <a:avLst/>
          </a:prstGeom>
          <a:noFill/>
          <a:ln/>
        </p:spPr>
        <p:txBody>
          <a:bodyPr wrap="square" lIns="0" tIns="0" rIns="0" bIns="0" rtlCol="0" anchor="t"/>
          <a:lstStyle/>
          <a:p>
            <a:pPr indent="0" marL="0">
              <a:buNone/>
            </a:pPr>
            <a:r>
              <a:rPr lang="en-US" sz="1050" dirty="0">
                <a:solidFill>
                  <a:srgbClr val="C9D1DC"/>
                </a:solidFill>
                <a:latin typeface="Arial" pitchFamily="34" charset="0"/>
                <a:ea typeface="Arial" pitchFamily="34" charset="-122"/>
                <a:cs typeface="Arial" pitchFamily="34" charset="-120"/>
              </a:rPr>
              <a:t>Budget and box-office data, since IMDB votes measure reach, not profit, with genre and runtime examined together.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8229600" cy="256032"/>
          </a:xfrm>
          <a:prstGeom prst="rect">
            <a:avLst/>
          </a:prstGeom>
          <a:noFill/>
          <a:ln/>
        </p:spPr>
        <p:txBody>
          <a:bodyPr wrap="square" lIns="0" tIns="0" rIns="0" bIns="0" rtlCol="0" anchor="t"/>
          <a:lstStyle/>
          <a:p>
            <a:pPr indent="0" marL="0">
              <a:buNone/>
            </a:pPr>
            <a:r>
              <a:rPr lang="en-US" sz="1050" b="1" spc="200" kern="0" dirty="0">
                <a:solidFill>
                  <a:srgbClr val="A5501A"/>
                </a:solidFill>
                <a:latin typeface="Arial" pitchFamily="34" charset="0"/>
                <a:ea typeface="Arial" pitchFamily="34" charset="-122"/>
                <a:cs typeface="Arial" pitchFamily="34" charset="-120"/>
              </a:rPr>
              <a:t>04  ·  DATA CLEANING</a:t>
            </a:r>
            <a:endParaRPr lang="en-US" sz="1050" dirty="0"/>
          </a:p>
        </p:txBody>
      </p:sp>
      <p:sp>
        <p:nvSpPr>
          <p:cNvPr id="3" name="Text 1"/>
          <p:cNvSpPr txBox="1"/>
          <p:nvPr/>
        </p:nvSpPr>
        <p:spPr>
          <a:xfrm>
            <a:off x="457200" y="640080"/>
            <a:ext cx="8229600" cy="566928"/>
          </a:xfrm>
          <a:prstGeom prst="rect">
            <a:avLst/>
          </a:prstGeom>
          <a:noFill/>
          <a:ln/>
        </p:spPr>
        <p:txBody>
          <a:bodyPr wrap="square" lIns="0" tIns="0" rIns="0" bIns="0" rtlCol="0" anchor="t"/>
          <a:lstStyle/>
          <a:p>
            <a:pPr indent="0" marL="0">
              <a:buNone/>
            </a:pPr>
            <a:r>
              <a:rPr lang="en-US" sz="2800" b="1" dirty="0">
                <a:solidFill>
                  <a:srgbClr val="16202E"/>
                </a:solidFill>
                <a:latin typeface="Oswald" pitchFamily="34" charset="0"/>
                <a:ea typeface="Oswald" pitchFamily="34" charset="-122"/>
                <a:cs typeface="Oswald" pitchFamily="34" charset="-120"/>
              </a:rPr>
              <a:t>Ten cleaning tasks before a deeper analysis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325880"/>
                <a:gridCol w="3063240"/>
                <a:gridCol w="3840480"/>
              </a:tblGrid>
              <a:tr h="265176">
                <a:tc>
                  <a:txBody>
                    <a:bodyPr/>
                    <a:lstStyle/>
                    <a:p>
                      <a:pPr indent="0" marL="0">
                        <a:buNone/>
                      </a:pPr>
                      <a:r>
                        <a:rPr lang="en-US" sz="1050" b="1" dirty="0">
                          <a:solidFill>
                            <a:srgbClr val="F4F1EA"/>
                          </a:solidFill>
                          <a:latin typeface="Arial" pitchFamily="34" charset="0"/>
                          <a:ea typeface="Arial" pitchFamily="34" charset="-122"/>
                          <a:cs typeface="Arial" pitchFamily="34" charset="-120"/>
                        </a:rPr>
                        <a:t>Type</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6202E"/>
                    </a:solidFill>
                  </a:tcPr>
                </a:tc>
                <a:tc>
                  <a:txBody>
                    <a:bodyPr/>
                    <a:lstStyle/>
                    <a:p>
                      <a:pPr indent="0" marL="0">
                        <a:buNone/>
                      </a:pPr>
                      <a:r>
                        <a:rPr lang="en-US" sz="1050" b="1" dirty="0">
                          <a:solidFill>
                            <a:srgbClr val="F4F1EA"/>
                          </a:solidFill>
                          <a:latin typeface="Arial" pitchFamily="34" charset="0"/>
                          <a:ea typeface="Arial" pitchFamily="34" charset="-122"/>
                          <a:cs typeface="Arial" pitchFamily="34" charset="-120"/>
                        </a:rPr>
                        <a:t>Task</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6202E"/>
                    </a:solidFill>
                  </a:tcPr>
                </a:tc>
                <a:tc>
                  <a:txBody>
                    <a:bodyPr/>
                    <a:lstStyle/>
                    <a:p>
                      <a:pPr indent="0" marL="0">
                        <a:buNone/>
                      </a:pPr>
                      <a:r>
                        <a:rPr lang="en-US" sz="1050" b="1" dirty="0">
                          <a:solidFill>
                            <a:srgbClr val="F4F1EA"/>
                          </a:solidFill>
                          <a:latin typeface="Arial" pitchFamily="34" charset="0"/>
                          <a:ea typeface="Arial" pitchFamily="34" charset="-122"/>
                          <a:cs typeface="Arial" pitchFamily="34" charset="-120"/>
                        </a:rPr>
                        <a:t>Evidence from exploration</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6202E"/>
                    </a:solidFill>
                  </a:tcPr>
                </a:tc>
              </a:tr>
              <a:tr h="265176">
                <a:tc rowSpan="2">
                  <a:txBody>
                    <a:bodyPr/>
                    <a:lstStyle/>
                    <a:p>
                      <a:pPr indent="0" marL="0">
                        <a:buNone/>
                      </a:pPr>
                      <a:r>
                        <a:rPr lang="en-US" sz="1050" b="1" dirty="0">
                          <a:solidFill>
                            <a:srgbClr val="16202E"/>
                          </a:solidFill>
                          <a:latin typeface="Arial" pitchFamily="34" charset="0"/>
                          <a:ea typeface="Arial" pitchFamily="34" charset="-122"/>
                          <a:cs typeface="Arial" pitchFamily="34" charset="-120"/>
                        </a:rPr>
                        <a:t>Scope</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Restrict to 2010–2019 release years</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1,063 titles are dated later, one of them 2115</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r>
              <a:tr h="265176">
                <a:tc vMerge="1">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Flag 2019 as a partial year</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8,379 titles vs 16,849 in 2018</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r>
              <a:tr h="265176">
                <a:tc rowSpan="2">
                  <a:txBody>
                    <a:bodyPr/>
                    <a:lstStyle/>
                    <a:p>
                      <a:pPr indent="0" marL="0">
                        <a:buNone/>
                      </a:pPr>
                      <a:r>
                        <a:rPr lang="en-US" sz="1050" b="1" dirty="0">
                          <a:solidFill>
                            <a:srgbClr val="16202E"/>
                          </a:solidFill>
                          <a:latin typeface="Arial" pitchFamily="34" charset="0"/>
                          <a:ea typeface="Arial" pitchFamily="34" charset="-122"/>
                          <a:cs typeface="Arial" pitchFamily="34" charset="-120"/>
                        </a:rPr>
                        <a:t>Normalization</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Split genres into a movie_genres table</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1,084 comma-separated combos, up to 3 per title</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r>
              <a:tr h="265176">
                <a:tc vMerge="1">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Standardize the title fields</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14,456 titles where primary ≠ original title</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r>
              <a:tr h="265176">
                <a:tc rowSpan="2">
                  <a:txBody>
                    <a:bodyPr/>
                    <a:lstStyle/>
                    <a:p>
                      <a:pPr indent="0" marL="0">
                        <a:buNone/>
                      </a:pPr>
                      <a:r>
                        <a:rPr lang="en-US" sz="1050" b="1" dirty="0">
                          <a:solidFill>
                            <a:srgbClr val="16202E"/>
                          </a:solidFill>
                          <a:latin typeface="Arial" pitchFamily="34" charset="0"/>
                          <a:ea typeface="Arial" pitchFamily="34" charset="-122"/>
                          <a:cs typeface="Arial" pitchFamily="34" charset="-120"/>
                        </a:rPr>
                        <a:t>Null handling</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Exclude nulls, never impute them</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30,765 missing runtimes, 5,359 missing genres</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r>
              <a:tr h="265176">
                <a:tc vMerge="1">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Label rating results as rated-only</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Only 50.9% of in-range titles have a rating</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r>
              <a:tr h="265176">
                <a:tc rowSpan="2">
                  <a:txBody>
                    <a:bodyPr/>
                    <a:lstStyle/>
                    <a:p>
                      <a:pPr indent="0" marL="0">
                        <a:buNone/>
                      </a:pPr>
                      <a:r>
                        <a:rPr lang="en-US" sz="1050" b="1" dirty="0">
                          <a:solidFill>
                            <a:srgbClr val="16202E"/>
                          </a:solidFill>
                          <a:latin typeface="Arial" pitchFamily="34" charset="0"/>
                          <a:ea typeface="Arial" pitchFamily="34" charset="-122"/>
                          <a:cs typeface="Arial" pitchFamily="34" charset="-120"/>
                        </a:rPr>
                        <a:t>Reliability</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Set and state a minimum-vote floor</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12,146 titles rated on fewer than 10 votes</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r>
              <a:tr h="265176">
                <a:tc vMerge="1">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Bound runtimes to a plausible range</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Runtimes run from 1 to 51,420 minutes</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2F4F7"/>
                    </a:solidFill>
                  </a:tcPr>
                </a:tc>
              </a:tr>
              <a:tr h="265176">
                <a:tc rowSpan="2">
                  <a:txBody>
                    <a:bodyPr/>
                    <a:lstStyle/>
                    <a:p>
                      <a:pPr indent="0" marL="0">
                        <a:buNone/>
                      </a:pPr>
                      <a:r>
                        <a:rPr lang="en-US" sz="1050" b="1" dirty="0">
                          <a:solidFill>
                            <a:srgbClr val="16202E"/>
                          </a:solidFill>
                          <a:latin typeface="Arial" pitchFamily="34" charset="0"/>
                          <a:ea typeface="Arial" pitchFamily="34" charset="-122"/>
                          <a:cs typeface="Arial" pitchFamily="34" charset="-120"/>
                        </a:rPr>
                        <a:t>Integrity</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Review duplicate titles</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1,859 title-and-year pairs appear twice or more</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r>
              <a:tr h="265176">
                <a:tc vMerge="1">
                  <a:tcPr/>
                </a:tc>
                <a:tc>
                  <a:txBody>
                    <a:bodyPr/>
                    <a:lstStyle/>
                    <a:p>
                      <a:pPr indent="0" marL="0">
                        <a:buNone/>
                      </a:pPr>
                      <a:r>
                        <a:rPr lang="en-US" sz="1050" dirty="0">
                          <a:solidFill>
                            <a:srgbClr val="16202E"/>
                          </a:solidFill>
                          <a:latin typeface="Arial" pitchFamily="34" charset="0"/>
                          <a:ea typeface="Arial" pitchFamily="34" charset="-122"/>
                          <a:cs typeface="Arial" pitchFamily="34" charset="-120"/>
                        </a:rPr>
                        <a:t>Declare primary and foreign keys</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050" dirty="0">
                          <a:solidFill>
                            <a:srgbClr val="4A5260"/>
                          </a:solidFill>
                          <a:latin typeface="Arial" pitchFamily="34" charset="0"/>
                          <a:ea typeface="Arial" pitchFamily="34" charset="-122"/>
                          <a:cs typeface="Arial" pitchFamily="34" charset="-120"/>
                        </a:rPr>
                        <a:t>No keys on movie_id or person_id</a:t>
                      </a:r>
                      <a:endParaRPr lang="en-US" sz="1050" dirty="0">
                        <a:latin typeface="Arial" charset="0"/>
                        <a:ea typeface="Arial" charset="0"/>
                        <a:cs typeface="Arial" charset="0"/>
                      </a:endParaRPr>
                    </a:p>
                  </a:txBody>
                  <a:tcPr marL="76200" marR="76200" marT="25400" marB="25400" anchor="ctr">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Identified during exploration and, per the brief, listed rather than performed. Each figure comes from a query in the notebook.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Gets Made vs. What Gets Watched</dc:title>
  <dc:subject>PptxGenJS Presentation</dc:subject>
  <dc:creator>Jan Balangue</dc:creator>
  <cp:lastModifiedBy>Jan Balangue</cp:lastModifiedBy>
  <cp:revision>1</cp:revision>
  <dcterms:created xsi:type="dcterms:W3CDTF">2026-09-26T04:34:47Z</dcterms:created>
  <dcterms:modified xsi:type="dcterms:W3CDTF">2026-09-26T04:34:47Z</dcterms:modified>
</cp:coreProperties>
</file>